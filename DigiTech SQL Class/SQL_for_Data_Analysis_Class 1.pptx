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24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40080" y="2144743"/>
            <a:ext cx="273108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037901" y="2070242"/>
            <a:ext cx="51768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8575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Introduction to SQL, Databases &amp; Querying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27368">
              <a:alpha val="30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35661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27368">
              <a:alpha val="30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35661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27368">
              <a:alpha val="30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27368">
              <a:alpha val="30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41605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27368">
              <a:alpha val="30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1605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27368">
              <a:alpha val="30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8D5861A-3EC0-8FF7-B43E-8B86CBE5E9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640080" y="1537077"/>
            <a:ext cx="2622015" cy="6629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261872"/>
            <a:ext cx="292608" cy="292608"/>
          </a:xfrm>
          <a:prstGeom prst="ellipse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344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stands for Structured Query Language.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for storing and managing data in Relational Database Management Systems (RDBMS).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2450592"/>
            <a:ext cx="292608" cy="292608"/>
          </a:xfrm>
          <a:prstGeom prst="ellipse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4231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standard language for Relational Database Systems.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enables users to relate databases and tables together seamlessly.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3639312"/>
            <a:ext cx="292608" cy="292608"/>
          </a:xfrm>
          <a:prstGeom prst="ellipse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61188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RDBMS platforms — MySQL, PostgreSQL, Oracle, MS Access, and SQL Server — use SQL as their standard database language.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19472" y="1261872"/>
            <a:ext cx="292608" cy="292608"/>
          </a:xfrm>
          <a:prstGeom prst="ellipse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2344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allows users to query the database in several ways using English-like statements.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accessible to both technical and non-technical users.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9472" y="2450592"/>
            <a:ext cx="292608" cy="292608"/>
          </a:xfrm>
          <a:prstGeom prst="ellipse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24231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not case sensitive. Keywords are conventionally written in UPPERCASE for readability.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can span one or multiple text lines.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5C0B8D-491C-2703-8D6F-FE95457ADD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Database?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027368">
              <a:alpha val="15000"/>
            </a:srgbClr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an organized collection of data stored and managed in a structured way to allow for easy access, retrieval, and manipulation.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Databases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5420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862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accuracy and consistency of data across the system.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25420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2862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data from unauthorized access and breaches.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24688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44768" y="25420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&amp; Recovery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2862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data to be recovered in case of loss or corruption.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7307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0507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users accessing the database simultaneously.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0400" y="36576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0128" y="37307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0128" y="40507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increasing amounts of data without performance degradation.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35040" y="36576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44768" y="37307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44768" y="40507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quick access to large volumes of data via queries.</a:t>
            </a:r>
            <a:endParaRPr lang="en-US" sz="1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8116546-B4FD-231D-4FCB-80EFF77516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Databases Store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 data in structured tables composed of rows and columns — similar to Excel spreadsheets.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188720" cy="347472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002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600200"/>
            <a:ext cx="2286000" cy="347472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6002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1600200"/>
            <a:ext cx="914400" cy="347472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60020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or BS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2011680" cy="347472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002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600200"/>
            <a:ext cx="1005840" cy="347472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6002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Debit/Credit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47672"/>
            <a:ext cx="1188720" cy="292608"/>
          </a:xfrm>
          <a:prstGeom prst="rect">
            <a:avLst/>
          </a:prstGeom>
          <a:solidFill>
            <a:srgbClr val="EAF5F3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4767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554480" y="1947672"/>
            <a:ext cx="2286000" cy="292608"/>
          </a:xfrm>
          <a:prstGeom prst="rect">
            <a:avLst/>
          </a:prstGeom>
          <a:solidFill>
            <a:srgbClr val="EAF5F3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194767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Revenues - products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1947672"/>
            <a:ext cx="914400" cy="292608"/>
          </a:xfrm>
          <a:prstGeom prst="rect">
            <a:avLst/>
          </a:prstGeom>
          <a:solidFill>
            <a:srgbClr val="EAF5F3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19476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947672"/>
            <a:ext cx="2011680" cy="292608"/>
          </a:xfrm>
          <a:prstGeom prst="rect">
            <a:avLst/>
          </a:prstGeom>
          <a:solidFill>
            <a:srgbClr val="EAF5F3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94767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66560" y="1947672"/>
            <a:ext cx="1005840" cy="292608"/>
          </a:xfrm>
          <a:prstGeom prst="rect">
            <a:avLst/>
          </a:prstGeom>
          <a:solidFill>
            <a:srgbClr val="EAF5F3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94767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240280"/>
            <a:ext cx="1188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24028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554480" y="2240280"/>
            <a:ext cx="2286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224028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Revenues - services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0" y="2240280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22402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240280"/>
            <a:ext cx="2011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24028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2240280"/>
            <a:ext cx="10058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22402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532888"/>
            <a:ext cx="1188720" cy="292608"/>
          </a:xfrm>
          <a:prstGeom prst="rect">
            <a:avLst/>
          </a:prstGeom>
          <a:solidFill>
            <a:srgbClr val="EAF5F3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53288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554480" y="2532888"/>
            <a:ext cx="2286000" cy="292608"/>
          </a:xfrm>
          <a:prstGeom prst="rect">
            <a:avLst/>
          </a:prstGeom>
          <a:solidFill>
            <a:srgbClr val="EAF5F3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00200" y="253288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materials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2532888"/>
            <a:ext cx="914400" cy="292608"/>
          </a:xfrm>
          <a:prstGeom prst="rect">
            <a:avLst/>
          </a:prstGeom>
          <a:solidFill>
            <a:srgbClr val="EAF5F3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25328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532888"/>
            <a:ext cx="2011680" cy="292608"/>
          </a:xfrm>
          <a:prstGeom prst="rect">
            <a:avLst/>
          </a:prstGeom>
          <a:solidFill>
            <a:srgbClr val="EAF5F3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53288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Sold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766560" y="2532888"/>
            <a:ext cx="1005840" cy="292608"/>
          </a:xfrm>
          <a:prstGeom prst="rect">
            <a:avLst/>
          </a:prstGeom>
          <a:solidFill>
            <a:srgbClr val="EAF5F3"/>
          </a:solidFill>
          <a:ln w="6350">
            <a:solidFill>
              <a:srgbClr val="C8E0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25328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3012949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 About Database Tables: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57200" y="3127248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have rows (records) and columns (fields) — just like Excel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must have a unique name and a defined data type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a column must be of the same type — this is what makes databases fast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column types allow quick retrieval even from very large datasets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spreadsheets, databases enforce strict data type consistency per column</a:t>
            </a:r>
            <a:endParaRPr lang="en-US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D99088D-7743-F9B7-C245-AB115B02A0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SQL?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major advantages of traditional relational databases that make SQL the go-to tool for data analysts: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27368">
              <a:alpha val="18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6550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Understand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0025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uses English-like syntax that is intuitive even for beginners and non-developers.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15768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27368">
              <a:alpha val="18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61488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770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Data Access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1181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 directly from the database without intermediate tools or exports.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31336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27368">
              <a:alpha val="18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77056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38862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Replicate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2336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databases allow auditing history and replicating data reliably.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1600200"/>
            <a:ext cx="3971581" cy="1005840"/>
          </a:xfrm>
          <a:prstGeom prst="roundRect">
            <a:avLst>
              <a:gd name="adj" fmla="val 9091"/>
            </a:avLst>
          </a:prstGeom>
          <a:solidFill>
            <a:srgbClr val="027368">
              <a:alpha val="18000"/>
            </a:srgbClr>
          </a:solidFill>
          <a:ln w="12700">
            <a:solidFill>
              <a:srgbClr val="028A7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20640" y="16459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15000" y="16550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Multi-Table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20025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a great tool for analyzing and joining multiple tables at once.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2715768"/>
            <a:ext cx="3971581" cy="1005840"/>
          </a:xfrm>
          <a:prstGeom prst="roundRect">
            <a:avLst>
              <a:gd name="adj" fmla="val 9091"/>
            </a:avLst>
          </a:prstGeom>
          <a:solidFill>
            <a:srgbClr val="027368">
              <a:alpha val="18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761488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15000" y="2770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Questions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31181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can answer more complex analytical questions than most dashboard tools.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6D91B3D-D963-1E35-65EC-6D114C8775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SQL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 are instructions used to communicate with and perform tasks on a database — create tables, add data, modify, query, and set permissions.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65760" y="15819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Types of SQL Commands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2029968"/>
            <a:ext cx="1600200" cy="2743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075688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75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" y="285292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8529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328269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2826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371246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7124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414223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142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0" y="2029968"/>
            <a:ext cx="1600200" cy="2743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57400" y="2075688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2075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057400" y="242316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21408" y="285292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21408" y="28529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21408" y="328269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32826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21408" y="371246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21408" y="37124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121408" y="414223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4142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49040" y="2029968"/>
            <a:ext cx="1600200" cy="2743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94760" y="2075688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2075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794760" y="242316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58768" y="285292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58768" y="28529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58768" y="328269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58768" y="32826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0" y="2029968"/>
            <a:ext cx="1600200" cy="2743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32120" y="2075688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2075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532120" y="242316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 Language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96128" y="285292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96128" y="28529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96128" y="328269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32826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596128" y="371246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96128" y="37124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223760" y="2029968"/>
            <a:ext cx="1600200" cy="2743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269480" y="2075688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69480" y="2075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DQL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7269480" y="242316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 Language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33488" y="285292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3488" y="28529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90BD10E-DA08-618A-C2EF-6282F265CD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&amp; DML Commands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— Data Definition Language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structure of the database. All DDL commands are auto-committed.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084832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84832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71600" y="20848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table or database object.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4320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a table along with all its structure and records.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401568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0156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71600" y="34015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existing table structure — adds, changes, or removes columns.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059936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5993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371600" y="40599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all rows from a table and frees the space.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1155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— Data Manipulation Language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5727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data in the database. DML commands are NOT auto-committed — changes can be rolled back.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084832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084832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52160" y="20848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new rows of data into a table.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92040" y="2743200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74320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52160" y="27432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the value of a column in existing rows.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401568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40156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52160" y="34015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existing records from a table.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4059936"/>
            <a:ext cx="3840480" cy="566928"/>
          </a:xfrm>
          <a:prstGeom prst="roundRect">
            <a:avLst>
              <a:gd name="adj" fmla="val 1129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405993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52160" y="405993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INSERT and UPDATE into a single statement.</a:t>
            </a:r>
            <a:endParaRPr lang="en-US" sz="10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418913B-0A8D-9492-575A-C4D80950FE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67632"/>
            <a:ext cx="1157307" cy="29260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0937899-D246-6DA4-1D2B-671751B038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78649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DCL, DQL &amp; TCL Commands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 — Data Control Language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GRANT and REVOKE authority from database users.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2194560"/>
            <a:ext cx="2514600" cy="749808"/>
          </a:xfrm>
          <a:prstGeom prst="roundRect">
            <a:avLst>
              <a:gd name="adj" fmla="val 8537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240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user access privileges to the database.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3017520"/>
            <a:ext cx="2514600" cy="749808"/>
          </a:xfrm>
          <a:prstGeom prst="roundRect">
            <a:avLst>
              <a:gd name="adj" fmla="val 8537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063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3649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back permissions previously given to a user.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05156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64992" y="1115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DQL — Data Query Language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fetch data from the database. Contains a single powerful command.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92424" y="2194560"/>
            <a:ext cx="2514600" cy="749808"/>
          </a:xfrm>
          <a:prstGeom prst="roundRect">
            <a:avLst>
              <a:gd name="adj" fmla="val 8537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3864" y="2240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83864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data from one or more tables based on conditions.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105156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18504" y="1115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 — Transaction Control Language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8504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database transactions (INSERT, DELETE, UPDATE changes only).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45936" y="2194560"/>
            <a:ext cx="2514600" cy="749808"/>
          </a:xfrm>
          <a:prstGeom prst="roundRect">
            <a:avLst>
              <a:gd name="adj" fmla="val 8537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2240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37376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saves all transactions to the database.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45936" y="3017520"/>
            <a:ext cx="2514600" cy="749808"/>
          </a:xfrm>
          <a:prstGeom prst="roundRect">
            <a:avLst>
              <a:gd name="adj" fmla="val 8537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7376" y="3063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37376" y="33649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Undoes transactions not yet saved — restores to last committed state.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45936" y="3840480"/>
            <a:ext cx="2514600" cy="749808"/>
          </a:xfrm>
          <a:prstGeom prst="roundRect">
            <a:avLst>
              <a:gd name="adj" fmla="val 8537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7376" y="3886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37376" y="41879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saves a transaction point to roll back to if needed.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5698D00-559F-DE88-0C97-810BA7F6BC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Datatypes define what values a column can contain. Every column must have a name and a data type.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41605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91640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Datatype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0391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CHAR, VARCHAR, NCHAR, NVARCHAR, VARBINARY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24231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groups of characters — letters, numerals, or symbols — enclosed in single quotes in a column record.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1605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691640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52160" y="1691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Datatype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0391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BIT, TINYINT, SMALLINT, INT, BIGINT, DECIMAL, MONEY, FLOAT, REAL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64608" y="24231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 used data type in SQL. Used to store numeric values only — integers, decimals, and floating-point.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64408"/>
            <a:ext cx="41605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355848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558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17320" y="33558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Datatype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703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DATE, DATETIME, TIMESTAMP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9768" y="408736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SQL for values that represent dates and times. Essential for time-series analysis and reporting.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264408"/>
            <a:ext cx="41605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355848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025951"/>
          </a:solidFill>
          <a:ln w="12700">
            <a:solidFill>
              <a:srgbClr val="0259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558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52160" y="33558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Datatype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52160" y="3703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BIT (Yes/No, True/False, 0/1)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64608" y="408736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binary values — boolean-type data representing true/false, yes/no, or on/off states.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47FEAA7-EF55-4F99-5E09-AC4EA0B0E7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Keys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special fields in a table that create relationships, maintain uniqueness, and ensure data is consistent and valid.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81912"/>
            <a:ext cx="2788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691640"/>
            <a:ext cx="347472" cy="347472"/>
          </a:xfrm>
          <a:prstGeom prst="ellipse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69164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record in a table. Each table can have only one primary key. E.g. Employee_id.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1581912"/>
            <a:ext cx="2788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4136" y="1691640"/>
            <a:ext cx="347472" cy="347472"/>
          </a:xfrm>
          <a:prstGeom prst="ellipse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169164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2130552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in one table that references the Primary Key of another table, creating a relationship between the two tables.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1581912"/>
            <a:ext cx="2788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18504" y="1691640"/>
            <a:ext cx="347472" cy="347472"/>
          </a:xfrm>
          <a:prstGeom prst="ellipse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39128" y="169164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Surrogate Key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5936" y="2130552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identifier created by the database itself (e.g. auto-incrementing integer). Unlike Primary Key, it has no real-world meaning.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82112"/>
            <a:ext cx="2788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291840"/>
            <a:ext cx="347472" cy="347472"/>
          </a:xfrm>
          <a:prstGeom prst="ellipse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329184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Key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30752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columns combined to uniquely identify each row. E.g. Employee_id + Salary_Month_Year in a salary table.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64408" y="3182112"/>
            <a:ext cx="2788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74136" y="3291840"/>
            <a:ext cx="347472" cy="347472"/>
          </a:xfrm>
          <a:prstGeom prst="ellipse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94760" y="329184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Key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01568" y="3730752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column that could be selected as a primary key. A table can have multiple candidate keys.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08776" y="3182112"/>
            <a:ext cx="2788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18504" y="3291840"/>
            <a:ext cx="347472" cy="347472"/>
          </a:xfrm>
          <a:prstGeom prst="ellipse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504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39128" y="329184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Key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45936" y="3730752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key not currently selected as the primary key. E.g. License_Number and Passport_Number.</a:t>
            </a:r>
            <a:endParaRPr lang="en-US" sz="10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36FD925-8B4B-E867-84DC-3F1DA0B419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Clauses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clauses are essential components that define how queries interact with the database — specifying conditions, modifying data, and controlling how results are returned.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859536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709928"/>
            <a:ext cx="1005840" cy="493776"/>
          </a:xfrm>
          <a:prstGeom prst="roundRect">
            <a:avLst>
              <a:gd name="adj" fmla="val 1296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709928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44752" y="170992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rows based on a specified condition.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57800" y="1709928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Employees WHERE age &gt; 30;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395728"/>
            <a:ext cx="1005840" cy="493776"/>
          </a:xfrm>
          <a:prstGeom prst="roundRect">
            <a:avLst>
              <a:gd name="adj" fmla="val 1296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395728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44752" y="239572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the result set in ascending (default) or descending order. Use DESC for descending.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57800" y="2395728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Employees ORDER BY salary DESC;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859536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081528"/>
            <a:ext cx="1005840" cy="493776"/>
          </a:xfrm>
          <a:prstGeom prst="roundRect">
            <a:avLst>
              <a:gd name="adj" fmla="val 1296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081528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44752" y="308152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identical data into groups. Used with aggregate functions. Follows WHERE and precedes ORDER BY.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57800" y="3081528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dept, COUNT(*) FROM Emp GROUP BY dept;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859536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767328"/>
            <a:ext cx="1005840" cy="493776"/>
          </a:xfrm>
          <a:prstGeom prst="roundRect">
            <a:avLst>
              <a:gd name="adj" fmla="val 1296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767328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44752" y="376732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a condition for groups or aggregates. Used with GROUP BY; can also work like WHERE without it.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57800" y="3767328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dept, AVG(salary) FROM Emp GROUP BY dept HAVING AVG(salary) &gt; 50000;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389120"/>
            <a:ext cx="859536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4453128"/>
            <a:ext cx="1005840" cy="493776"/>
          </a:xfrm>
          <a:prstGeom prst="roundRect">
            <a:avLst>
              <a:gd name="adj" fmla="val 1296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453128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/ LIMIT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44752" y="445312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the number of rows returned by a query.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57800" y="4453128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TOP 10 * FROM Orders ORDER BY date DESC;</a:t>
            </a:r>
            <a:endParaRPr lang="en-US" sz="9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896C821-517C-AB15-602D-FD679249A4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Operators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operators are reserved words or characters used primarily in the WHERE clause to perform comparisons and arithmetic — and to join multiple conditions.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627632"/>
            <a:ext cx="2688336" cy="457200"/>
          </a:xfrm>
          <a:prstGeom prst="roundRect">
            <a:avLst>
              <a:gd name="adj" fmla="val 16000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27632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57984"/>
            <a:ext cx="2651760" cy="429768"/>
          </a:xfrm>
          <a:prstGeom prst="rect">
            <a:avLst/>
          </a:prstGeom>
          <a:solidFill>
            <a:srgbClr val="E8F5F2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57984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157984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633472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33472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633472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2651760" cy="429768"/>
          </a:xfrm>
          <a:prstGeom prst="rect">
            <a:avLst/>
          </a:prstGeom>
          <a:solidFill>
            <a:srgbClr val="E8F5F2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08960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584448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84448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584448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2651760" cy="429768"/>
          </a:xfrm>
          <a:prstGeom prst="rect">
            <a:avLst/>
          </a:prstGeom>
          <a:solidFill>
            <a:srgbClr val="E8F5F2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5993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4059936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(remainder)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18688" y="1572768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1627632"/>
            <a:ext cx="2688336" cy="457200"/>
          </a:xfrm>
          <a:prstGeom prst="roundRect">
            <a:avLst>
              <a:gd name="adj" fmla="val 16000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627632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10128" y="2157984"/>
            <a:ext cx="2651760" cy="429768"/>
          </a:xfrm>
          <a:prstGeom prst="rect">
            <a:avLst/>
          </a:prstGeom>
          <a:solidFill>
            <a:srgbClr val="E8F5F2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157984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07408" y="2157984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0128" y="2633472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2633472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 / &lt;&gt;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07408" y="2633472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0128" y="3108960"/>
            <a:ext cx="2651760" cy="429768"/>
          </a:xfrm>
          <a:prstGeom prst="rect">
            <a:avLst/>
          </a:prstGeom>
          <a:solidFill>
            <a:srgbClr val="E8F5F2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108960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07408" y="3108960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10128" y="3584448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3584448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07408" y="3584448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10128" y="4059936"/>
            <a:ext cx="2651760" cy="429768"/>
          </a:xfrm>
          <a:prstGeom prst="rect">
            <a:avLst/>
          </a:prstGeom>
          <a:solidFill>
            <a:srgbClr val="E8F5F2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405993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07408" y="4059936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or equal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310128" y="4535424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5848" y="4535424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07408" y="4535424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or equal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63056" y="1572768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36208" y="1627632"/>
            <a:ext cx="2688336" cy="457200"/>
          </a:xfrm>
          <a:prstGeom prst="roundRect">
            <a:avLst>
              <a:gd name="adj" fmla="val 16000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1627632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54496" y="2157984"/>
            <a:ext cx="2651760" cy="429768"/>
          </a:xfrm>
          <a:prstGeom prst="rect">
            <a:avLst/>
          </a:prstGeom>
          <a:solidFill>
            <a:srgbClr val="E8F5F2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0216" y="2157984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51776" y="2157984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conditions true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54496" y="2633472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0216" y="2633472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51776" y="2633472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condition true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54496" y="3108960"/>
            <a:ext cx="2651760" cy="429768"/>
          </a:xfrm>
          <a:prstGeom prst="rect">
            <a:avLst/>
          </a:prstGeom>
          <a:solidFill>
            <a:srgbClr val="E8F5F2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0216" y="3108960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51776" y="3108960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condition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254496" y="3584448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0216" y="3584448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351776" y="3584448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value range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254496" y="4059936"/>
            <a:ext cx="2651760" cy="429768"/>
          </a:xfrm>
          <a:prstGeom prst="rect">
            <a:avLst/>
          </a:prstGeom>
          <a:solidFill>
            <a:srgbClr val="E8F5F2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0216" y="4059936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351776" y="4059936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 list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254496" y="4535424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0216" y="4535424"/>
            <a:ext cx="1005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351776" y="4535424"/>
            <a:ext cx="1508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(wildcard)</a:t>
            </a:r>
            <a:endParaRPr lang="en-US" sz="105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C8EBC09F-6E0B-E1B7-7640-0A02E2A58C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Joins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 combines records from two or more tables in a database based on a related column between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81912"/>
            <a:ext cx="416052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73352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733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67335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records with matching values in BOTH tables.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632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58568"/>
            <a:ext cx="37947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e.EMP_NAME, p.DEPARTMENT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 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Project 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p.EMP_ID = e.EMP_ID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581912"/>
            <a:ext cx="416052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673352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028A7B"/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733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167335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from the left table and matching rows from the right. NULL where no match.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2402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258568"/>
            <a:ext cx="37947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e.EMP_NAME, p.DEPARTMENT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 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Project 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p.EMP_ID = e.EMP_ID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416052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29000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290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342900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from the right table and matching rows from the left. NULL where no match.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9592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14216"/>
            <a:ext cx="37947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e.EMP_NAME, p.DEPARTMENT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 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 Project 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p.EMP_ID = e.EMP_ID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16052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429000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025951"/>
          </a:solidFill>
          <a:ln w="12700">
            <a:solidFill>
              <a:srgbClr val="0259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4290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42900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records from both tables. NULL wherever there is no match in either table.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99592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014216"/>
            <a:ext cx="37947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e.EMP_NAME, p.DEPARTMENT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 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JOIN Project 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p.EMP_ID = e.EMP_ID</a:t>
            </a:r>
            <a:endParaRPr lang="en-US" sz="9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8B4E024-7A2F-0C14-4512-C1616A1A8C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Aggregate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perform calculations on a set of values and return a single summarizing result. Commonly used with GROUP BY.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627632" cy="32918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673352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7335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313432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number of rows or non-null values in a column.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1444752" cy="868680"/>
          </a:xfrm>
          <a:prstGeom prst="roundRect">
            <a:avLst>
              <a:gd name="adj" fmla="val 7368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77647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employees;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93392" y="1600200"/>
            <a:ext cx="1627632" cy="32918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66544" y="1673352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167335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84832" y="2313432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total sum of a numeric column.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084832" y="3749040"/>
            <a:ext cx="1444752" cy="868680"/>
          </a:xfrm>
          <a:prstGeom prst="roundRect">
            <a:avLst>
              <a:gd name="adj" fmla="val 7368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377647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SUM(salary) FROM employees;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12464" y="1600200"/>
            <a:ext cx="1627632" cy="32918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85616" y="1673352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167335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03904" y="2313432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average (mean) value of a numeric column.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803904" y="3749040"/>
            <a:ext cx="1444752" cy="868680"/>
          </a:xfrm>
          <a:prstGeom prst="roundRect">
            <a:avLst>
              <a:gd name="adj" fmla="val 7368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377647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AVG(salary) FROM employees;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31536" y="1600200"/>
            <a:ext cx="1627632" cy="32918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04688" y="1673352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167335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MIN()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22976" y="2313432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smallest value in a column.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522976" y="3749040"/>
            <a:ext cx="1444752" cy="868680"/>
          </a:xfrm>
          <a:prstGeom prst="roundRect">
            <a:avLst>
              <a:gd name="adj" fmla="val 7368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377647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MIN(salary) FROM employees;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50608" y="1600200"/>
            <a:ext cx="1627632" cy="32918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673352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167335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MAX()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42048" y="2313432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largest value in a column.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7242048" y="3749040"/>
            <a:ext cx="1444752" cy="868680"/>
          </a:xfrm>
          <a:prstGeom prst="roundRect">
            <a:avLst>
              <a:gd name="adj" fmla="val 7368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78624" y="377647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MAX(salary) FROM employees;</a:t>
            </a:r>
            <a:endParaRPr lang="en-US" sz="8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6AF3FF5-73EB-44A4-2D11-F9BD5FC5A9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Set Operations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combine the results of two or more SELECT queries, treating each result set as a mathematical set.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81912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16459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5603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results of two or more SELECT queries. Eliminates duplicate rows. Columns and data types must match.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47472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52044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col1, col2 FROM table1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col1, col2 FROM table2;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1581912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64592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645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38928" y="16459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duplicates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5848" y="2212848"/>
            <a:ext cx="25603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results of two or more SELECT queries. Keeps ALL rows including duplicates. Faster than UNION.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55848" y="347472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352044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col1, col2 FROM table1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col1, col2 FROM table2;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63056" y="1581912"/>
            <a:ext cx="2834640" cy="33832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64592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645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83296" y="16459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rows only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0216" y="2212848"/>
            <a:ext cx="25603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rows that appear in BOTH SELECT statements. No duplicates. Results arranged in ascending order by default.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0216" y="347472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352044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employees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27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clients;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13AE55-605A-5470-833E-F721AC7BD8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E8F5F2"/>
          </a:solidFill>
          <a:ln w="12700">
            <a:solidFill>
              <a:srgbClr val="C0D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SQL View is a virtual table created from the result set of a SQL query. It does not store data itself — data is dynamically retrieved from underlying tables whenever the view is queried. A view can join multiple tables, filter rows, and select specific columns.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938528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993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395728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restrict access by exposing only specific columns or rows — you can hide sensitive data from certain users.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1938528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993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Simplicity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55848" y="2395728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simplify complex queries. Write once, reuse as a simple table. Reduces repetition in application code.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1938528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993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🗄️ Virtual 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0216" y="2395728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like a table — supports SELECT, INSERT, UPDATE, DELETE (with some limitations). Data is generated dynamically.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4015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View Commands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20574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840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1330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389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28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view_name AS SELECT ...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68880" y="3794760"/>
            <a:ext cx="20574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3840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41330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an existing 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4389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28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VIEW view_name AS SELECT ...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3794760"/>
            <a:ext cx="20574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840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1330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389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28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VIEW view_name;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0" y="3794760"/>
            <a:ext cx="20574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49440" y="3840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41330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Renames the 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43891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28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sp_rename 'old_name', 'new_name';</a:t>
            </a:r>
            <a:endParaRPr lang="en-US" sz="8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882C3FD-EAB5-815B-596D-87B95959A0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CASE WHEN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WHEN statement is a conditional expression — similar to IF-THEN-ELSE in programming. It creates different outputs based on conditions, making queries dynamic and adaptable.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627632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A2E2A"/>
          </a:solidFill>
          <a:ln w="12700">
            <a:solidFill>
              <a:srgbClr val="D0E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824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3977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0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product_name,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category_id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1 THEN 'Electronics'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2 THEN 'Furniture'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3 THEN 'Clothing'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'Other'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AS category_name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62763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70078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🔀 Flexibility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205740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can be used in SELECT, UPDATE, INSERT, and ORDER BY clauses, making it very versatile.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72491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79806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Readability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315468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nested IF statements with clean, structured conditional logic directly in SQL.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82219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89534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Efficiency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425196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need for multiple queries or conditional logic in application code.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F0D1ACF-F3A9-5231-6115-0A49A24A4A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356615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Architecture of Data Movement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1627632" cy="4160520"/>
          </a:xfrm>
          <a:prstGeom prst="roundRect">
            <a:avLst>
              <a:gd name="adj" fmla="val 5618"/>
            </a:avLst>
          </a:prstGeom>
          <a:solidFill>
            <a:srgbClr val="025951">
              <a:alpha val="30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22960"/>
            <a:ext cx="1536192" cy="502920"/>
          </a:xfrm>
          <a:prstGeom prst="roundRect">
            <a:avLst>
              <a:gd name="adj" fmla="val 12727"/>
            </a:avLst>
          </a:prstGeom>
          <a:solidFill>
            <a:srgbClr val="025951"/>
          </a:solidFill>
          <a:ln w="12700">
            <a:solidFill>
              <a:srgbClr val="0259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1732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84248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8424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Finacle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551176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5117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118104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1810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HANA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685032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8503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56232" y="2880360"/>
            <a:ext cx="91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7672" y="777240"/>
            <a:ext cx="1627632" cy="4160520"/>
          </a:xfrm>
          <a:prstGeom prst="roundRect">
            <a:avLst>
              <a:gd name="adj" fmla="val 5618"/>
            </a:avLst>
          </a:prstGeom>
          <a:solidFill>
            <a:srgbClr val="027368">
              <a:alpha val="30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93392" y="822960"/>
            <a:ext cx="1536192" cy="502920"/>
          </a:xfrm>
          <a:prstGeom prst="roundRect">
            <a:avLst>
              <a:gd name="adj" fmla="val 12727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8229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39112" y="1417320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39112" y="141732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39112" y="1984248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39112" y="198424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39112" y="2551176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9112" y="255117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39112" y="3118104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39112" y="311810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39112" y="3685032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39112" y="368503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21024" y="2880360"/>
            <a:ext cx="91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12464" y="777240"/>
            <a:ext cx="1627632" cy="4160520"/>
          </a:xfrm>
          <a:prstGeom prst="roundRect">
            <a:avLst>
              <a:gd name="adj" fmla="val 5618"/>
            </a:avLst>
          </a:prstGeom>
          <a:solidFill>
            <a:srgbClr val="027368">
              <a:alpha val="30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58184" y="822960"/>
            <a:ext cx="1536192" cy="502920"/>
          </a:xfrm>
          <a:prstGeom prst="roundRect">
            <a:avLst>
              <a:gd name="adj" fmla="val 12727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58184" y="8229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03904" y="1417320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03904" y="141732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03904" y="1984248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03904" y="198424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03904" y="2551176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03904" y="255117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803904" y="3118104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03904" y="311810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03904" y="3685032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03904" y="368503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Server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385816" y="2880360"/>
            <a:ext cx="91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77256" y="777240"/>
            <a:ext cx="1627632" cy="4160520"/>
          </a:xfrm>
          <a:prstGeom prst="roundRect">
            <a:avLst>
              <a:gd name="adj" fmla="val 5618"/>
            </a:avLst>
          </a:prstGeom>
          <a:solidFill>
            <a:srgbClr val="02967E">
              <a:alpha val="30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22976" y="822960"/>
            <a:ext cx="1536192" cy="502920"/>
          </a:xfrm>
          <a:prstGeom prst="roundRect">
            <a:avLst>
              <a:gd name="adj" fmla="val 12727"/>
            </a:avLst>
          </a:prstGeom>
          <a:solidFill>
            <a:srgbClr val="02967E"/>
          </a:solidFill>
          <a:ln w="12700">
            <a:solidFill>
              <a:srgbClr val="02967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22976" y="8229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Tools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568696" y="1417320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68696" y="141732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568696" y="1984248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68696" y="198424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568696" y="2551176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68696" y="255117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568696" y="3118104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68696" y="311810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568696" y="3685032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68696" y="368503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150608" y="2880360"/>
            <a:ext cx="914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42048" y="777240"/>
            <a:ext cx="1627632" cy="4160520"/>
          </a:xfrm>
          <a:prstGeom prst="roundRect">
            <a:avLst>
              <a:gd name="adj" fmla="val 5618"/>
            </a:avLst>
          </a:prstGeom>
          <a:solidFill>
            <a:srgbClr val="028A7B">
              <a:alpha val="30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87768" y="822960"/>
            <a:ext cx="1536192" cy="502920"/>
          </a:xfrm>
          <a:prstGeom prst="roundRect">
            <a:avLst>
              <a:gd name="adj" fmla="val 12727"/>
            </a:avLst>
          </a:prstGeom>
          <a:solidFill>
            <a:srgbClr val="028A7B"/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87768" y="8229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Users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333488" y="1417320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33488" y="141732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Management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333488" y="1984248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33488" y="198424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333488" y="2551176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33488" y="255117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333488" y="3118104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33488" y="311810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333488" y="3685032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20000"/>
            </a:srgbClr>
          </a:solidFill>
          <a:ln w="6350">
            <a:solidFill>
              <a:srgbClr val="028A7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33488" y="368503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65760" y="50017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at the heart of every stage — from querying source databases to transforming and loading data into warehouses and BI tools.</a:t>
            </a:r>
            <a:endParaRPr lang="en-US" sz="110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6DEFC37B-FFB2-C6AB-EBAC-211DE69CCD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7620933" y="213341"/>
            <a:ext cx="1157307" cy="2926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for Data Analysis — Course Breakdown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15568"/>
            <a:ext cx="2688336" cy="530352"/>
          </a:xfrm>
          <a:prstGeom prst="roundRect">
            <a:avLst>
              <a:gd name="adj" fmla="val 1379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2688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1: SQL Foundations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SQL &amp; Databases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Databases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Databases Store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 for Data Analysis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Databases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Commands: DDL, DML, DCL, DQL, TCL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SQL Queries &amp; Data Types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Primary, Foreign, Unique, Composite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18688" y="105156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15568"/>
            <a:ext cx="2688336" cy="530352"/>
          </a:xfrm>
          <a:prstGeom prst="roundRect">
            <a:avLst>
              <a:gd name="adj" fmla="val 1379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15568"/>
            <a:ext cx="2688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2: Operators, Clauses &amp; Joins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719072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Clauses: WHERE, ORDER BY, GROUP BY, HAVING, TOP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Operators: LIKE, AND, OR, BETWEEN, IN, NOT 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vs UNION ALL, INTERSECT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Operators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SQL Joins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INNER, LEFT, RIGHT, FULL JOIN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63056" y="105156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1115568"/>
            <a:ext cx="2688336" cy="530352"/>
          </a:xfrm>
          <a:prstGeom prst="roundRect">
            <a:avLst>
              <a:gd name="adj" fmla="val 13793"/>
            </a:avLst>
          </a:prstGeom>
          <a:solidFill>
            <a:srgbClr val="027368"/>
          </a:solidFill>
          <a:ln w="12700">
            <a:solidFill>
              <a:srgbClr val="0273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115568"/>
            <a:ext cx="2688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3: Advanced 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5936" y="1719072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Aggregation: COUNT, SUM, AVG, MIN, MAX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NULL Values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Views: Create, Update, Drop, Rename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CASE WHEN Statement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&amp; Nested Queries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68680" y="2188751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027368">
              <a:alpha val="25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03120" y="3611880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027368">
              <a:alpha val="25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361188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3611880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027368">
              <a:alpha val="25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361188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0" y="3611880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027368">
              <a:alpha val="25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361188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40880" y="3611880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027368">
              <a:alpha val="25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361188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178808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027368">
              <a:alpha val="25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788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03120" y="4178808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027368">
              <a:alpha val="25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41788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49040" y="4178808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027368">
              <a:alpha val="25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41788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4960" y="4178808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027368">
              <a:alpha val="25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41788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40880" y="4178808"/>
            <a:ext cx="1554480" cy="438912"/>
          </a:xfrm>
          <a:prstGeom prst="roundRect">
            <a:avLst>
              <a:gd name="adj" fmla="val 20833"/>
            </a:avLst>
          </a:prstGeom>
          <a:solidFill>
            <a:srgbClr val="027368">
              <a:alpha val="25000"/>
            </a:srgbClr>
          </a:solidFill>
          <a:ln w="12700">
            <a:solidFill>
              <a:srgbClr val="028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1788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9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6A6E7FC-A51E-23FC-7986-A4A028BE4D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5" t="18618" r="9377" b="60615"/>
          <a:stretch/>
        </p:blipFill>
        <p:spPr>
          <a:xfrm>
            <a:off x="2356337" y="1265517"/>
            <a:ext cx="4339886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2479</Words>
  <Application>Microsoft Office PowerPoint</Application>
  <PresentationFormat>On-screen Show (16:9)</PresentationFormat>
  <Paragraphs>428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for Data Analysis</dc:title>
  <dc:subject>PptxGenJS Presentation</dc:subject>
  <dc:creator>PptxGenJS</dc:creator>
  <cp:lastModifiedBy>Elijah Adeniji</cp:lastModifiedBy>
  <cp:revision>4</cp:revision>
  <dcterms:created xsi:type="dcterms:W3CDTF">2026-06-20T17:46:57Z</dcterms:created>
  <dcterms:modified xsi:type="dcterms:W3CDTF">2026-07-22T01:58:14Z</dcterms:modified>
</cp:coreProperties>
</file>