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334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Wireless
Earbuds</c:v>
                </c:pt>
                <c:pt idx="1">
                  <c:v>Smart
Watch</c:v>
                </c:pt>
                <c:pt idx="2">
                  <c:v>Laptop
Stand</c:v>
                </c:pt>
                <c:pt idx="3">
                  <c:v>USB-C
Hub</c:v>
                </c:pt>
                <c:pt idx="4">
                  <c:v>Desk
Lamp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18400</c:v>
                </c:pt>
                <c:pt idx="1">
                  <c:v>15200</c:v>
                </c:pt>
                <c:pt idx="2">
                  <c:v>11900</c:v>
                </c:pt>
                <c:pt idx="3">
                  <c:v>9800</c:v>
                </c:pt>
                <c:pt idx="4">
                  <c:v>8600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17-43EF-9BF6-BE77B2E7C2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334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Africa</c:v>
                </c:pt>
                <c:pt idx="1">
                  <c:v>Europe</c:v>
                </c:pt>
                <c:pt idx="2">
                  <c:v>Asia</c:v>
                </c:pt>
                <c:pt idx="3">
                  <c:v>Americas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42000</c:v>
                </c:pt>
                <c:pt idx="1">
                  <c:v>58500</c:v>
                </c:pt>
                <c:pt idx="2">
                  <c:v>71200</c:v>
                </c:pt>
                <c:pt idx="3">
                  <c:v>49800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F5-4623-BD77-A3C9856687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453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23F48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0F374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05840"/>
            <a:ext cx="1005840" cy="1005840"/>
          </a:xfrm>
          <a:prstGeom prst="ellipse">
            <a:avLst/>
          </a:prstGeom>
          <a:solidFill>
            <a:srgbClr val="16515C"/>
          </a:solidFill>
          <a:ln/>
        </p:spPr>
      </p:sp>
      <p:pic>
        <p:nvPicPr>
          <p:cNvPr id="5" name="Image 0" descr="/home/claude/icons/databas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216152"/>
            <a:ext cx="585216" cy="585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  •  MODULE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SQL</a:t>
            </a:r>
            <a:endParaRPr lang="en-US" sz="5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Data Analysis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12700">
            <a:solidFill>
              <a:srgbClr val="1F5D6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3" name="Image 0" descr="/home/claude/icons/databas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SQL?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(Structured Query Language) is the standard language used to communicate with relational databases — the systems that store the data behind apps, websites, and business reports.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 analysts, SQL is the most direct way to reach the source of truth: instead of waiting for an export, you can ask the database exactly what you need.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43484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EAF6F6"/>
          </a:solidFill>
          <a:ln/>
        </p:spPr>
      </p:sp>
      <p:pic>
        <p:nvPicPr>
          <p:cNvPr id="7" name="Image 1" descr="/home/claude/icons/bulb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6344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457200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SQL is used across nearly every data role — analyst, scientist, engineer — making it one of the highest-value skills you can learn first.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400800" y="1417320"/>
            <a:ext cx="5257800" cy="1078992"/>
          </a:xfrm>
          <a:prstGeom prst="roundRect">
            <a:avLst>
              <a:gd name="adj" fmla="val 5932"/>
            </a:avLst>
          </a:prstGeom>
          <a:solidFill>
            <a:srgbClr val="EAF6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583680" y="1636776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2" descr="/home/claude/icons/search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272" y="180136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06640" y="15270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data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406640" y="1892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exactly the rows and columns you need from large tables.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00800" y="2633472"/>
            <a:ext cx="5257800" cy="1078992"/>
          </a:xfrm>
          <a:prstGeom prst="roundRect">
            <a:avLst>
              <a:gd name="adj" fmla="val 5932"/>
            </a:avLst>
          </a:prstGeom>
          <a:solidFill>
            <a:srgbClr val="EAF6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583680" y="285292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3" descr="/home/claude/icons/filter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301752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06640" y="2743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records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7406640" y="31089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results down to the specific conditions you care about.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0" y="3849624"/>
            <a:ext cx="5257800" cy="1078992"/>
          </a:xfrm>
          <a:prstGeom prst="roundRect">
            <a:avLst>
              <a:gd name="adj" fmla="val 5932"/>
            </a:avLst>
          </a:prstGeom>
          <a:solidFill>
            <a:srgbClr val="EAF6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583680" y="4069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4" descr="/home/claude/icons/calc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8272" y="4233672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06640" y="3959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&amp; calculate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7406640" y="43251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total, and average values to find patterns and trends.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400800" y="5065776"/>
            <a:ext cx="5257800" cy="1078992"/>
          </a:xfrm>
          <a:prstGeom prst="roundRect">
            <a:avLst>
              <a:gd name="adj" fmla="val 5932"/>
            </a:avLst>
          </a:prstGeom>
          <a:solidFill>
            <a:srgbClr val="EAF6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583680" y="5285232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/home/claude/icons/layer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8272" y="544982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06640" y="51755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data sources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7406640" y="554126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multiple tables together for a complete picture.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3" name="Image 0" descr="/home/claude/icons/tab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Tables, Rows &amp; Columns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a relational database lives in tables — similar to spreadsheets. Each table holds one type of information, organized into rows and columns.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7" name="Image 1" descr="/home/claude/icons/tabl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4378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697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 —  </a:t>
            </a: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collection of related data, e.g. "customers" or "orders".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10" name="Image 2" descr="/home/claude/icons/listol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362102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3474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(record)  —  </a:t>
            </a: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entry in the table — one customer, one order.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13" name="Image 3" descr="/home/claude/icons/cod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39826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4251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(field)  —  </a:t>
            </a: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attribute shared by every row, e.g. name, email, date.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16" name="Image 4" descr="/home/claude/icons/key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517550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5029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 —  </a:t>
            </a: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that uniquely identifies each row, like a customer ID.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400800" y="1463040"/>
            <a:ext cx="525780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7ECE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6629400" y="1600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629400" y="2057400"/>
            <a:ext cx="48006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4"/>
          <p:cNvSpPr/>
          <p:nvPr/>
        </p:nvSpPr>
        <p:spPr>
          <a:xfrm>
            <a:off x="6629400" y="20574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7829550" y="20574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9029700" y="20574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10229850" y="20574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signup_date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6629400" y="25146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7829550" y="25146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Amara Diallo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9029700" y="25146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Nigeria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10229850" y="25146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2024-02-11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629400" y="2971800"/>
            <a:ext cx="4800600" cy="457200"/>
          </a:xfrm>
          <a:prstGeom prst="rect">
            <a:avLst/>
          </a:prstGeom>
          <a:solidFill>
            <a:srgbClr val="EAF6F6"/>
          </a:solidFill>
          <a:ln/>
        </p:spPr>
      </p:sp>
      <p:sp>
        <p:nvSpPr>
          <p:cNvPr id="30" name="Text 23"/>
          <p:cNvSpPr/>
          <p:nvPr/>
        </p:nvSpPr>
        <p:spPr>
          <a:xfrm>
            <a:off x="6629400" y="29718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1025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829550" y="29718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Liam Carter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9029700" y="29718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10229850" y="29718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2024-02-14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629400" y="34290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1026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829550" y="34290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Mei Tanaka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9029700" y="34290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Japan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10229850" y="34290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2024-03-02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629400" y="3886200"/>
            <a:ext cx="4800600" cy="457200"/>
          </a:xfrm>
          <a:prstGeom prst="rect">
            <a:avLst/>
          </a:prstGeom>
          <a:solidFill>
            <a:srgbClr val="EAF6F6"/>
          </a:solidFill>
          <a:ln/>
        </p:spPr>
      </p:sp>
      <p:sp>
        <p:nvSpPr>
          <p:cNvPr id="39" name="Text 32"/>
          <p:cNvSpPr/>
          <p:nvPr/>
        </p:nvSpPr>
        <p:spPr>
          <a:xfrm>
            <a:off x="6629400" y="38862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1027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7829550" y="38862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Sofia Rossi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9029700" y="38862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Italy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10229850" y="38862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2024-03-19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6629400" y="43434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1028</a:t>
            </a:r>
            <a:endParaRPr lang="en-US" sz="1100" dirty="0"/>
          </a:p>
        </p:txBody>
      </p:sp>
      <p:sp>
        <p:nvSpPr>
          <p:cNvPr id="44" name="Text 37"/>
          <p:cNvSpPr/>
          <p:nvPr/>
        </p:nvSpPr>
        <p:spPr>
          <a:xfrm>
            <a:off x="7829550" y="43434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Tunde Bakare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9029700" y="43434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Nigeria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10229850" y="4343400"/>
            <a:ext cx="120015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2024-04-07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6629400" y="49377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one customer record. Each column stores one attribute. "customer_id" is the primary key — no two rows share the same value.</a:t>
            </a:r>
            <a:endParaRPr lang="en-US" sz="1200" dirty="0"/>
          </a:p>
        </p:txBody>
      </p:sp>
      <p:sp>
        <p:nvSpPr>
          <p:cNvPr id="48" name="Text 41"/>
          <p:cNvSpPr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3" name="Image 0" descr="/home/claude/icons/cod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SQL Query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6949440" cy="2377440"/>
          </a:xfrm>
          <a:prstGeom prst="roundRect">
            <a:avLst>
              <a:gd name="adj" fmla="val 3077"/>
            </a:avLst>
          </a:prstGeom>
          <a:solidFill>
            <a:srgbClr val="0E3A4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73736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customer_name, order_total</a:t>
            </a:r>
            <a:endParaRPr lang="en-US" sz="1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order_total &gt; 100</a:t>
            </a:r>
            <a:endParaRPr lang="en-US" sz="1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order_total DESC;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48640" y="40690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a sentence: tell SQL what you want, where to find it, which rows to keep, and how to order the result.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26680" y="1463040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EAF6F6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1554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372600" y="1554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which columns appear in the result.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26680" y="2578608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EAF6F6"/>
          </a:solidFill>
          <a:ln/>
        </p:spPr>
      </p:sp>
      <p:sp>
        <p:nvSpPr>
          <p:cNvPr id="12" name="Text 9"/>
          <p:cNvSpPr/>
          <p:nvPr/>
        </p:nvSpPr>
        <p:spPr>
          <a:xfrm>
            <a:off x="7955280" y="26700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372600" y="26700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which table the data comes from.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26680" y="3694176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EAF6F6"/>
          </a:solidFill>
          <a:ln/>
        </p:spPr>
      </p:sp>
      <p:sp>
        <p:nvSpPr>
          <p:cNvPr id="15" name="Text 12"/>
          <p:cNvSpPr/>
          <p:nvPr/>
        </p:nvSpPr>
        <p:spPr>
          <a:xfrm>
            <a:off x="7955280" y="3785616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372600" y="378561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down to those meeting a condition.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726680" y="4809744"/>
            <a:ext cx="3931920" cy="960120"/>
          </a:xfrm>
          <a:prstGeom prst="roundRect">
            <a:avLst>
              <a:gd name="adj" fmla="val 5714"/>
            </a:avLst>
          </a:prstGeom>
          <a:solidFill>
            <a:srgbClr val="EAF6F6"/>
          </a:solidFill>
          <a:ln/>
        </p:spPr>
      </p:sp>
      <p:sp>
        <p:nvSpPr>
          <p:cNvPr id="18" name="Text 15"/>
          <p:cNvSpPr/>
          <p:nvPr/>
        </p:nvSpPr>
        <p:spPr>
          <a:xfrm>
            <a:off x="7955280" y="4901184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372600" y="490118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result set by one or more columns.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3" name="Image 0" descr="/home/claude/icons/filte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Rows with WHERE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WHERE clause narrows your results to only the rows that match a condition — the foundation of focused, useful analysis.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5852160" cy="3200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country = 'Nigeria'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&lt;&gt;  or  !=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 &lt;&gt; 'cancelled'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 ,  &lt;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/ less than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order_total &gt; 100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a range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age BETWEEN 18 AND 30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a text pattern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 LIKE 'A%'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 /  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3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conditions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33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country = 'Nigeria' AND order_total &gt; 100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766560" y="1508760"/>
            <a:ext cx="4892040" cy="2286000"/>
          </a:xfrm>
          <a:prstGeom prst="roundRect">
            <a:avLst>
              <a:gd name="adj" fmla="val 3200"/>
            </a:avLst>
          </a:prstGeom>
          <a:solidFill>
            <a:srgbClr val="0E3A42"/>
          </a:solidFill>
          <a:ln/>
        </p:spPr>
      </p:sp>
      <p:sp>
        <p:nvSpPr>
          <p:cNvPr id="8" name="Text 4"/>
          <p:cNvSpPr/>
          <p:nvPr/>
        </p:nvSpPr>
        <p:spPr>
          <a:xfrm>
            <a:off x="7086600" y="1691640"/>
            <a:ext cx="4343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country, order_total</a:t>
            </a:r>
            <a:endParaRPr lang="en-US" sz="16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6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 = 'Nigeria'</a:t>
            </a:r>
            <a:endParaRPr lang="en-US" sz="16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</a:t>
            </a: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order_total &gt; 100;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6766560" y="3977640"/>
            <a:ext cx="4892040" cy="1783080"/>
          </a:xfrm>
          <a:prstGeom prst="roundRect">
            <a:avLst>
              <a:gd name="adj" fmla="val 4103"/>
            </a:avLst>
          </a:prstGeom>
          <a:solidFill>
            <a:srgbClr val="EAF6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/home/claude/icons/bulb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20624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0" y="416052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example: 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every customer from Nigeria whose order total is greater than 100 — both conditions must be true.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3" name="Image 0" descr="/home/claude/icons/sor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&amp; Limiting Results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arranges your results, and LIMIT keeps only the top portion — perfect for quick "top N" questions like best-selling products.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5146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0E3A42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6974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product_name, revenue</a:t>
            </a:r>
            <a:endParaRPr lang="en-US" sz="1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1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DESC</a:t>
            </a:r>
            <a:endParaRPr lang="en-US" sz="1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</a:t>
            </a: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5;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4663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  </a:t>
            </a: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smallest → largest (default for numbers and dates).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50474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  </a:t>
            </a: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largest → smallest — most common for "top performers".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4315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n  </a:t>
            </a: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the first n rows of the sorted result.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preview: top 5 products by revenue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400800" y="1828800"/>
          <a:ext cx="52120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3" name="Image 0" descr="/home/claude/icons/calc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Functions &amp; GROUP BY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508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turn many rows into a single summary value. Combined with GROUP BY, they summarize data per category.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468880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EAF6F6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468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606040" y="24688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rows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182112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EAF6F6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18211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606040" y="318211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of a numeric column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895344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EAF6F6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895344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606040" y="389534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value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4608576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EAF6F6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60857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MIN() / MAX()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606040" y="460857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/ largest value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0" y="150876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0E3A42"/>
          </a:solidFill>
          <a:ln/>
        </p:spPr>
      </p:sp>
      <p:sp>
        <p:nvSpPr>
          <p:cNvPr id="19" name="Text 16"/>
          <p:cNvSpPr/>
          <p:nvPr/>
        </p:nvSpPr>
        <p:spPr>
          <a:xfrm>
            <a:off x="6720840" y="16916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region, SUM(sales) AS total</a:t>
            </a:r>
            <a:endParaRPr lang="en-US" sz="16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6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16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region;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400800" y="3749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preview: total sales by region</a:t>
            </a:r>
            <a:endParaRPr lang="en-US" sz="14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6400800" y="4160520"/>
          <a:ext cx="52120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 18"/>
          <p:cNvSpPr/>
          <p:nvPr/>
        </p:nvSpPr>
        <p:spPr>
          <a:xfrm>
            <a:off x="548640" y="534924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EAF6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1" descr="/home/claude/icons/bulb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3212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80160" y="544068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collapses rows that share the same value (e.g. each region) into one row per group, with the aggregate calculated for that group.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3" name="Image 0" descr="/home/claude/icons/join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Joining Tables Together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questions often need data from more than one table. JOIN links rows from two tables using a shared key column.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97280" y="228600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EAF6F6"/>
          </a:solidFill>
          <a:ln w="12700">
            <a:solidFill>
              <a:srgbClr val="D7EC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258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25880" y="26974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order_total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74920" y="274320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pic>
        <p:nvPicPr>
          <p:cNvPr id="10" name="Image 1" descr="/home/claude/icons/lin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880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0" y="3337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2286000"/>
            <a:ext cx="3291840" cy="1463040"/>
          </a:xfrm>
          <a:prstGeom prst="roundRect">
            <a:avLst>
              <a:gd name="adj" fmla="val 3750"/>
            </a:avLst>
          </a:prstGeom>
          <a:solidFill>
            <a:srgbClr val="EAF6F6"/>
          </a:solidFill>
          <a:ln w="12700">
            <a:solidFill>
              <a:srgbClr val="D7EC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5508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355080" y="26974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3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5852160" cy="2011680"/>
          </a:xfrm>
          <a:prstGeom prst="roundRect">
            <a:avLst>
              <a:gd name="adj" fmla="val 3636"/>
            </a:avLst>
          </a:prstGeom>
          <a:solidFill>
            <a:srgbClr val="0E3A42"/>
          </a:solidFill>
          <a:ln/>
        </p:spPr>
      </p:sp>
      <p:sp>
        <p:nvSpPr>
          <p:cNvPr id="16" name="Text 12"/>
          <p:cNvSpPr/>
          <p:nvPr/>
        </p:nvSpPr>
        <p:spPr>
          <a:xfrm>
            <a:off x="868680" y="425196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c.name, o.order_total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</a:t>
            </a:r>
            <a:r>
              <a:rPr lang="en-US" sz="15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</a:t>
            </a:r>
            <a:r>
              <a:rPr lang="en-US" sz="15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o.customer_id = c.customer_id;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766560" y="406908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EAF6F6"/>
          </a:solidFill>
          <a:ln/>
        </p:spPr>
      </p:sp>
      <p:sp>
        <p:nvSpPr>
          <p:cNvPr id="18" name="Text 14"/>
          <p:cNvSpPr/>
          <p:nvPr/>
        </p:nvSpPr>
        <p:spPr>
          <a:xfrm>
            <a:off x="6903720" y="41422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903720" y="4434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that match in both tables.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9354312" y="4069080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EAF6F6"/>
          </a:solidFill>
          <a:ln/>
        </p:spPr>
      </p:sp>
      <p:sp>
        <p:nvSpPr>
          <p:cNvPr id="21" name="Text 17"/>
          <p:cNvSpPr/>
          <p:nvPr/>
        </p:nvSpPr>
        <p:spPr>
          <a:xfrm>
            <a:off x="9491472" y="41422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9491472" y="4434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the left table, matched where possible.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766560" y="5239512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EAF6F6"/>
          </a:solidFill>
          <a:ln/>
        </p:spPr>
      </p:sp>
      <p:sp>
        <p:nvSpPr>
          <p:cNvPr id="24" name="Text 20"/>
          <p:cNvSpPr/>
          <p:nvPr/>
        </p:nvSpPr>
        <p:spPr>
          <a:xfrm>
            <a:off x="6903720" y="53126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JOIN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903720" y="56052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the right table, matched where possible.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354312" y="5239512"/>
            <a:ext cx="2377440" cy="960120"/>
          </a:xfrm>
          <a:prstGeom prst="roundRect">
            <a:avLst>
              <a:gd name="adj" fmla="val 5714"/>
            </a:avLst>
          </a:prstGeom>
          <a:solidFill>
            <a:srgbClr val="EAF6F6"/>
          </a:solidFill>
          <a:ln/>
        </p:spPr>
      </p:sp>
      <p:sp>
        <p:nvSpPr>
          <p:cNvPr id="27" name="Text 23"/>
          <p:cNvSpPr/>
          <p:nvPr/>
        </p:nvSpPr>
        <p:spPr>
          <a:xfrm>
            <a:off x="9491472" y="53126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JOIN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9491472" y="56052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 tables, matched where possible.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3" name="Image 0" descr="/home/claude/icons/listol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6400800" cy="3566160"/>
          </a:xfrm>
          <a:prstGeom prst="roundRect">
            <a:avLst>
              <a:gd name="adj" fmla="val 2051"/>
            </a:avLst>
          </a:prstGeom>
          <a:solidFill>
            <a:srgbClr val="0E3A42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691640"/>
            <a:ext cx="58521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c.country,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COUNT(o.order_id) AS num_orders,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SUM(o.order_total) AS total_revenue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</a:t>
            </a:r>
            <a:r>
              <a:rPr lang="en-US" sz="15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 </a:t>
            </a:r>
            <a:r>
              <a:rPr lang="en-US" sz="15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o.customer_id = c.customer_id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o.order_date &gt;= '2024-01-01'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c.country</a:t>
            </a:r>
            <a:endParaRPr lang="en-US" sz="15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total_revenue DESC;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8640" y="5212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query, six clauses — each builds on the last to answer: "How many orders, and how much revenue, came from each country in 2024?"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69480" y="1508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2694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09560" y="14630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orders with customers using customer_id.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269480" y="2286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72694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09560" y="224028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orders placed from January 2024 onward.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269480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7269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09560" y="30175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the remaining rows into one per country.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69480" y="3840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72694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909560" y="37947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orders and sum revenue for each country.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269480" y="4617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72694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909560" y="45720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countries with the highest revenue first.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3" name="Image 0" descr="/home/claude/icons/bulb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11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&amp; Common Pitfalls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EAF6F6"/>
          </a:solidFill>
          <a:ln/>
        </p:spPr>
      </p:sp>
      <p:pic>
        <p:nvPicPr>
          <p:cNvPr id="6" name="Image 1" descr="/home/claude/icons/check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69164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691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habits to build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868680" y="237744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5"/>
          <p:cNvSpPr/>
          <p:nvPr/>
        </p:nvSpPr>
        <p:spPr>
          <a:xfrm>
            <a:off x="1188720" y="225856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SELECT * and LIMIT 10 to preview a table before writing a full query.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868680" y="321868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7"/>
          <p:cNvSpPr/>
          <p:nvPr/>
        </p:nvSpPr>
        <p:spPr>
          <a:xfrm>
            <a:off x="1188720" y="3099816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clear table aliases (o for orders, c for customers) to keep joins readable.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68680" y="4059936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9"/>
          <p:cNvSpPr/>
          <p:nvPr/>
        </p:nvSpPr>
        <p:spPr>
          <a:xfrm>
            <a:off x="1188720" y="3941064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with WHERE before grouping — it's faster and easier to follow.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68680" y="490118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1"/>
          <p:cNvSpPr/>
          <p:nvPr/>
        </p:nvSpPr>
        <p:spPr>
          <a:xfrm>
            <a:off x="1188720" y="478231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queries with each clause on its own line and consistent indentation.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68680" y="574243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3"/>
          <p:cNvSpPr/>
          <p:nvPr/>
        </p:nvSpPr>
        <p:spPr>
          <a:xfrm>
            <a:off x="1188720" y="562356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comments (-- like this) to explain why a condition exists.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355080" y="1463040"/>
            <a:ext cx="5303520" cy="4937760"/>
          </a:xfrm>
          <a:prstGeom prst="roundRect">
            <a:avLst>
              <a:gd name="adj" fmla="val 1481"/>
            </a:avLst>
          </a:prstGeom>
          <a:solidFill>
            <a:srgbClr val="EAF6F6"/>
          </a:solidFill>
          <a:ln/>
        </p:spPr>
      </p:sp>
      <p:pic>
        <p:nvPicPr>
          <p:cNvPr id="19" name="Image 2" descr="/home/claude/icons/warning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69164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78040" y="1691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to avoid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6675120" y="2377440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2" name="Text 17"/>
          <p:cNvSpPr/>
          <p:nvPr/>
        </p:nvSpPr>
        <p:spPr>
          <a:xfrm>
            <a:off x="6995160" y="22585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SELECT * on huge tables in production — it pulls every column unnecessarily.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6675120" y="3218688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19"/>
          <p:cNvSpPr/>
          <p:nvPr/>
        </p:nvSpPr>
        <p:spPr>
          <a:xfrm>
            <a:off x="6995160" y="309981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that NULL values are excluded from most comparisons and aggregates.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6675120" y="4059936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1"/>
          <p:cNvSpPr/>
          <p:nvPr/>
        </p:nvSpPr>
        <p:spPr>
          <a:xfrm>
            <a:off x="6995160" y="394106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assume column order is guaranteed — always reference columns by name.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6675120" y="4901184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3"/>
          <p:cNvSpPr/>
          <p:nvPr/>
        </p:nvSpPr>
        <p:spPr>
          <a:xfrm>
            <a:off x="6995160" y="478231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write UPDATE or DELETE without a WHERE clause — it affects every row.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6675120" y="5742432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0" name="Text 25"/>
          <p:cNvSpPr/>
          <p:nvPr/>
        </p:nvSpPr>
        <p:spPr>
          <a:xfrm>
            <a:off x="6995160" y="56235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confuse WHERE (filters rows) with HAVING (filters grouped results).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23F48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3840480" cy="3840480"/>
          </a:xfrm>
          <a:prstGeom prst="ellipse">
            <a:avLst/>
          </a:prstGeom>
          <a:solidFill>
            <a:srgbClr val="0F374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6515C"/>
          </a:solidFill>
          <a:ln/>
        </p:spPr>
      </p:sp>
      <p:pic>
        <p:nvPicPr>
          <p:cNvPr id="5" name="Image 0" descr="/home/claude/icons/databas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66751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411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Practicing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about SQL gets you started — writing it is how it sticks. Here's how to build momentum after this session.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123F48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2560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icons/search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697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514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sample database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63040" y="292608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a small dataset with multiple related tables (orders, customers, products) so JOIN and GROUP BY feel concrete.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63640" y="23317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123F48"/>
          </a:solidFill>
          <a:ln/>
        </p:spPr>
      </p:sp>
      <p:sp>
        <p:nvSpPr>
          <p:cNvPr id="14" name="Shape 10"/>
          <p:cNvSpPr/>
          <p:nvPr/>
        </p:nvSpPr>
        <p:spPr>
          <a:xfrm>
            <a:off x="6492240" y="2560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home/claude/icons/cod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697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78040" y="2514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interactive SQL sandbox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178040" y="292608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editors let you write and run queries instantly, with immediate feedback — ideal for trial and error.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4348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123F48"/>
          </a:solidFill>
          <a:ln/>
        </p:spPr>
      </p:sp>
      <p:sp>
        <p:nvSpPr>
          <p:cNvPr id="19" name="Shape 14"/>
          <p:cNvSpPr/>
          <p:nvPr/>
        </p:nvSpPr>
        <p:spPr>
          <a:xfrm>
            <a:off x="777240" y="4663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/home/claude/icons/listol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8006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46177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 reports you already use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463040" y="502920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spreadsheet report you know well and try to reproduce it with a SQL query — it's the fastest way to connect syntax to real questions.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263640" y="44348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123F48"/>
          </a:solidFill>
          <a:ln/>
        </p:spPr>
      </p:sp>
      <p:sp>
        <p:nvSpPr>
          <p:cNvPr id="24" name="Shape 18"/>
          <p:cNvSpPr/>
          <p:nvPr/>
        </p:nvSpPr>
        <p:spPr>
          <a:xfrm>
            <a:off x="6492240" y="46634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/home/claude/icons/layer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8006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78040" y="46177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up gradually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178040" y="502920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SELECT, WHERE, and ORDER BY first, then add GROUP BY and JOIN once the basics feel natural.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48640" y="6217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1381</Words>
  <Application>Microsoft Office PowerPoint</Application>
  <PresentationFormat>Widescreen</PresentationFormat>
  <Paragraphs>210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SQL for Data Analysis</dc:title>
  <dc:subject>PptxGenJS Presentation</dc:subject>
  <dc:creator>SQL for Data Analysis</dc:creator>
  <cp:lastModifiedBy>Elijah Adeniji</cp:lastModifiedBy>
  <cp:revision>2</cp:revision>
  <dcterms:created xsi:type="dcterms:W3CDTF">2026-06-13T19:04:52Z</dcterms:created>
  <dcterms:modified xsi:type="dcterms:W3CDTF">2026-06-20T17:47:24Z</dcterms:modified>
</cp:coreProperties>
</file>